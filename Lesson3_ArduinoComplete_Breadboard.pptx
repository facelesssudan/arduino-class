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7315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93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BEGINNERS COURSE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 Complete +</a:t>
            </a:r>
            <a:endParaRPr lang="en-US" sz="3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the Breadboard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35204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3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Notes  |  Ages 10–15  |  ⚠️ Safety First!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before connecting — prevents short circuits!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7293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05840" y="1371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ARDUINO UNO PARTS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we complete today — you will use all of these in your projects: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572768"/>
            <a:ext cx="8595360" cy="585216"/>
          </a:xfrm>
          <a:prstGeom prst="rect">
            <a:avLst/>
          </a:prstGeom>
          <a:solidFill>
            <a:srgbClr val="F8FB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572768"/>
            <a:ext cx="91440" cy="58521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2763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Power LED (ON)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883664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LED that lights up when the board has power. If OFF — board is not powered!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249424"/>
            <a:ext cx="8595360" cy="585216"/>
          </a:xfrm>
          <a:prstGeom prst="rect">
            <a:avLst/>
          </a:prstGeom>
          <a:solidFill>
            <a:srgbClr val="F8FB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249424"/>
            <a:ext cx="91440" cy="58521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30428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〜 PWM Pins (3,5,6,9,10,11)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56032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Pins marked ~ can simulate analog output using Pulse Width Modulation. Used to dim LEDs and control motors.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926080"/>
            <a:ext cx="8595360" cy="585216"/>
          </a:xfrm>
          <a:prstGeom prst="rect">
            <a:avLst/>
          </a:prstGeom>
          <a:solidFill>
            <a:srgbClr val="F8FB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926080"/>
            <a:ext cx="91440" cy="58521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98094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TX / RX Pins (0 &amp; 1)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236976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communication. TX sends data, RX receives. Avoid for simple projects — shared with USB.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602736"/>
            <a:ext cx="8595360" cy="585216"/>
          </a:xfrm>
          <a:prstGeom prst="rect">
            <a:avLst/>
          </a:prstGeom>
          <a:solidFill>
            <a:srgbClr val="F8FB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602736"/>
            <a:ext cx="91440" cy="58521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65760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ICSP Headers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391363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program chips directly. ADVANCED — do not connect anything here for now.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4279392"/>
            <a:ext cx="8595360" cy="585216"/>
          </a:xfrm>
          <a:prstGeom prst="rect">
            <a:avLst/>
          </a:prstGeom>
          <a:solidFill>
            <a:srgbClr val="F8FB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4279392"/>
            <a:ext cx="91440" cy="585216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33425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 IOREF &amp; AREF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590288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voltage pins used by advanced shields and sensors. Leave unconnected for beginner projects.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05840" y="1371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PWM — PULSE WIDTH MODULATION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PWM lets Arduino simulate different voltage levels by switching pins ON and OFF very rapidly: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6002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 (OFF)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920240" y="1673352"/>
            <a:ext cx="5486400" cy="310896"/>
          </a:xfrm>
          <a:prstGeom prst="rect">
            <a:avLst/>
          </a:prstGeom>
          <a:solidFill>
            <a:srgbClr val="EEEE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20240" y="1673352"/>
            <a:ext cx="0" cy="31089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0" y="16002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fully off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21284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Duty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920240" y="2286000"/>
            <a:ext cx="5486400" cy="310896"/>
          </a:xfrm>
          <a:prstGeom prst="rect">
            <a:avLst/>
          </a:prstGeom>
          <a:solidFill>
            <a:srgbClr val="EEEE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20240" y="2286000"/>
            <a:ext cx="1371600" cy="310896"/>
          </a:xfrm>
          <a:prstGeom prst="rect">
            <a:avLst/>
          </a:prstGeom>
          <a:solidFill>
            <a:srgbClr val="93C6E0"/>
          </a:solidFill>
          <a:ln w="12700">
            <a:solidFill>
              <a:srgbClr val="93C6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0" y="221284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dim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282549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Duty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920240" y="2898648"/>
            <a:ext cx="5486400" cy="310896"/>
          </a:xfrm>
          <a:prstGeom prst="rect">
            <a:avLst/>
          </a:prstGeom>
          <a:solidFill>
            <a:srgbClr val="EEEE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20240" y="2898648"/>
            <a:ext cx="2743200" cy="31089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0" y="282549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half bright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3438144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Duty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920240" y="3511296"/>
            <a:ext cx="5486400" cy="310896"/>
          </a:xfrm>
          <a:prstGeom prst="rect">
            <a:avLst/>
          </a:prstGeom>
          <a:solidFill>
            <a:srgbClr val="EEEE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20240" y="3511296"/>
            <a:ext cx="4114800" cy="31089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0" y="3438144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bright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405079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(ON)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920240" y="4123944"/>
            <a:ext cx="5486400" cy="310896"/>
          </a:xfrm>
          <a:prstGeom prst="rect">
            <a:avLst/>
          </a:prstGeom>
          <a:solidFill>
            <a:srgbClr val="EEEE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20240" y="4123944"/>
            <a:ext cx="5486400" cy="310896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89520" y="405079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fully 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FFF8E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6908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D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Code: analogWrite(9, 127)  →  sets pin 9 to ~50% brightness (value 0–255)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7293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05840" y="1371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BREADBOARD?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breadboard is a reusable, solderless board for building and testing circuits safely: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600200"/>
            <a:ext cx="5303520" cy="2926080"/>
          </a:xfrm>
          <a:prstGeom prst="rect">
            <a:avLst/>
          </a:prstGeom>
          <a:solidFill>
            <a:srgbClr val="F5F0E8"/>
          </a:solidFill>
          <a:ln w="25400">
            <a:solidFill>
              <a:srgbClr val="CCBB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783080"/>
            <a:ext cx="5029200" cy="274320"/>
          </a:xfrm>
          <a:prstGeom prst="rect">
            <a:avLst/>
          </a:prstGeom>
          <a:solidFill>
            <a:srgbClr val="FFCCC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01368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(5V — RED WIRE FROM ARDUINO)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2148840"/>
            <a:ext cx="5029200" cy="274320"/>
          </a:xfrm>
          <a:prstGeom prst="rect">
            <a:avLst/>
          </a:prstGeom>
          <a:solidFill>
            <a:srgbClr val="CCCCFF"/>
          </a:solidFill>
          <a:ln w="12700">
            <a:solidFill>
              <a:srgbClr val="3333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67128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(GND — BLACK WIRE FROM ARDUINO)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2560320"/>
            <a:ext cx="2286000" cy="1371600"/>
          </a:xfrm>
          <a:prstGeom prst="rect">
            <a:avLst/>
          </a:prstGeom>
          <a:solidFill>
            <a:srgbClr val="E8F4E8"/>
          </a:solidFill>
          <a:ln w="12700">
            <a:solidFill>
              <a:srgbClr val="AACC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0604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Strip 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(Rows 1–30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 C D E)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834640" y="2560320"/>
            <a:ext cx="274320" cy="1371600"/>
          </a:xfrm>
          <a:prstGeom prst="rect">
            <a:avLst/>
          </a:prstGeom>
          <a:solidFill>
            <a:srgbClr val="F5F0E8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34640" y="30632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200400" y="2560320"/>
            <a:ext cx="2194560" cy="1371600"/>
          </a:xfrm>
          <a:prstGeom prst="rect">
            <a:avLst/>
          </a:prstGeom>
          <a:solidFill>
            <a:srgbClr val="E8F4E8"/>
          </a:solidFill>
          <a:ln w="12700">
            <a:solidFill>
              <a:srgbClr val="AACC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6120" y="260604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Strip 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(Rows 1–30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G H I J)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4069080"/>
            <a:ext cx="5029200" cy="274320"/>
          </a:xfrm>
          <a:prstGeom prst="rect">
            <a:avLst/>
          </a:prstGeom>
          <a:solidFill>
            <a:srgbClr val="FFCCC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087368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(Red Rail)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760720" y="171907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Red rail — all holes connected → 5V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760720" y="208483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Blue rail — all holes connected → GND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760720" y="254203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Same row = connected internally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760720" y="299923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Gap separates left and right sides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760720" y="345643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Rows are numbered 1 to 30 (or 60)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05840" y="1371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BREADBOARD ROWS WORK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most important concept — understanding internal connections: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463040" y="1627632"/>
            <a:ext cx="457200" cy="347472"/>
          </a:xfrm>
          <a:prstGeom prst="ellipse">
            <a:avLst/>
          </a:prstGeom>
          <a:solidFill>
            <a:srgbClr val="22C55E"/>
          </a:solidFill>
          <a:ln w="25400">
            <a:solidFill>
              <a:srgbClr val="16653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164592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94560" y="1627632"/>
            <a:ext cx="457200" cy="347472"/>
          </a:xfrm>
          <a:prstGeom prst="ellipse">
            <a:avLst/>
          </a:prstGeom>
          <a:solidFill>
            <a:srgbClr val="22C55E"/>
          </a:solidFill>
          <a:ln w="25400">
            <a:solidFill>
              <a:srgbClr val="1665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94560" y="164592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926080" y="1627632"/>
            <a:ext cx="457200" cy="347472"/>
          </a:xfrm>
          <a:prstGeom prst="ellipse">
            <a:avLst/>
          </a:prstGeom>
          <a:solidFill>
            <a:srgbClr val="22C55E"/>
          </a:solidFill>
          <a:ln w="25400">
            <a:solidFill>
              <a:srgbClr val="1665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0" y="164592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0" y="1627632"/>
            <a:ext cx="457200" cy="347472"/>
          </a:xfrm>
          <a:prstGeom prst="ellipse">
            <a:avLst/>
          </a:prstGeom>
          <a:solidFill>
            <a:srgbClr val="22C55E"/>
          </a:solidFill>
          <a:ln w="25400">
            <a:solidFill>
              <a:srgbClr val="16653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164592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89120" y="1627632"/>
            <a:ext cx="457200" cy="347472"/>
          </a:xfrm>
          <a:prstGeom prst="ellipse">
            <a:avLst/>
          </a:prstGeom>
          <a:solidFill>
            <a:srgbClr val="22C55E"/>
          </a:solidFill>
          <a:ln w="25400">
            <a:solidFill>
              <a:srgbClr val="16653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0" y="164592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508760" y="1801368"/>
            <a:ext cx="3200400" cy="0"/>
          </a:xfrm>
          <a:prstGeom prst="line">
            <a:avLst/>
          </a:prstGeom>
          <a:noFill/>
          <a:ln w="25400">
            <a:solidFill>
              <a:srgbClr val="166534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4846320" y="15544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A1, B1, C1, D1, E1 all connected internally 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24688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2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463040" y="2542032"/>
            <a:ext cx="457200" cy="347472"/>
          </a:xfrm>
          <a:prstGeom prst="ellipse">
            <a:avLst/>
          </a:prstGeom>
          <a:solidFill>
            <a:srgbClr val="22C55E"/>
          </a:solidFill>
          <a:ln w="25400">
            <a:solidFill>
              <a:srgbClr val="16653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63040" y="256032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194560" y="2542032"/>
            <a:ext cx="457200" cy="347472"/>
          </a:xfrm>
          <a:prstGeom prst="ellipse">
            <a:avLst/>
          </a:prstGeom>
          <a:solidFill>
            <a:srgbClr val="22C55E"/>
          </a:solidFill>
          <a:ln w="25400">
            <a:solidFill>
              <a:srgbClr val="16653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94560" y="256032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926080" y="2542032"/>
            <a:ext cx="457200" cy="347472"/>
          </a:xfrm>
          <a:prstGeom prst="ellipse">
            <a:avLst/>
          </a:prstGeom>
          <a:solidFill>
            <a:srgbClr val="22C55E"/>
          </a:solidFill>
          <a:ln w="25400">
            <a:solidFill>
              <a:srgbClr val="16653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6080" y="256032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0" y="2542032"/>
            <a:ext cx="457200" cy="347472"/>
          </a:xfrm>
          <a:prstGeom prst="ellipse">
            <a:avLst/>
          </a:prstGeom>
          <a:solidFill>
            <a:srgbClr val="22C55E"/>
          </a:solidFill>
          <a:ln w="25400">
            <a:solidFill>
              <a:srgbClr val="16653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0" y="256032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389120" y="2542032"/>
            <a:ext cx="457200" cy="347472"/>
          </a:xfrm>
          <a:prstGeom prst="ellipse">
            <a:avLst/>
          </a:prstGeom>
          <a:solidFill>
            <a:srgbClr val="22C55E"/>
          </a:solidFill>
          <a:ln w="25400">
            <a:solidFill>
              <a:srgbClr val="16653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0" y="256032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508760" y="2715768"/>
            <a:ext cx="3200400" cy="0"/>
          </a:xfrm>
          <a:prstGeom prst="line">
            <a:avLst/>
          </a:prstGeom>
          <a:noFill/>
          <a:ln w="25400">
            <a:solidFill>
              <a:srgbClr val="166534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4846320" y="24688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A2, B2, C2, D2, E2 all connected internally ✓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5760" y="33832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3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1463040" y="3456432"/>
            <a:ext cx="457200" cy="347472"/>
          </a:xfrm>
          <a:prstGeom prst="ellipse">
            <a:avLst/>
          </a:prstGeom>
          <a:solidFill>
            <a:srgbClr val="CCCCCC"/>
          </a:solidFill>
          <a:ln w="25400">
            <a:solidFill>
              <a:srgbClr val="99999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63040" y="347472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194560" y="3456432"/>
            <a:ext cx="457200" cy="347472"/>
          </a:xfrm>
          <a:prstGeom prst="ellipse">
            <a:avLst/>
          </a:prstGeom>
          <a:solidFill>
            <a:srgbClr val="CCCCCC"/>
          </a:solidFill>
          <a:ln w="25400">
            <a:solidFill>
              <a:srgbClr val="99999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194560" y="347472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926080" y="3456432"/>
            <a:ext cx="457200" cy="347472"/>
          </a:xfrm>
          <a:prstGeom prst="ellipse">
            <a:avLst/>
          </a:prstGeom>
          <a:solidFill>
            <a:srgbClr val="CCCCCC"/>
          </a:solidFill>
          <a:ln w="25400">
            <a:solidFill>
              <a:srgbClr val="99999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26080" y="347472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0" y="3456432"/>
            <a:ext cx="457200" cy="347472"/>
          </a:xfrm>
          <a:prstGeom prst="ellipse">
            <a:avLst/>
          </a:prstGeom>
          <a:solidFill>
            <a:srgbClr val="CCCCCC"/>
          </a:solidFill>
          <a:ln w="25400">
            <a:solidFill>
              <a:srgbClr val="99999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0" y="347472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389120" y="3456432"/>
            <a:ext cx="457200" cy="347472"/>
          </a:xfrm>
          <a:prstGeom prst="ellipse">
            <a:avLst/>
          </a:prstGeom>
          <a:solidFill>
            <a:srgbClr val="CCCCCC"/>
          </a:solidFill>
          <a:ln w="25400">
            <a:solidFill>
              <a:srgbClr val="99999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89120" y="347472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46320" y="3383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connected to Row 1 or Row 2 ✗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74320" y="4297680"/>
            <a:ext cx="8595360" cy="713232"/>
          </a:xfrm>
          <a:prstGeom prst="rect">
            <a:avLst/>
          </a:prstGeom>
          <a:solidFill>
            <a:srgbClr val="FFF3CD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4343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D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KEY RULE: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57200" y="46177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ROW number = connected.  Different ROW number = NOT connected.  The gap in the middle separates left (A–E) from right (F–J).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05840" y="1371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SHORT CIRCUIT MISTAKES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these NOW — they protect your Arduino from permanent damage: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536192"/>
            <a:ext cx="4160520" cy="566928"/>
          </a:xfrm>
          <a:prstGeom prst="rect">
            <a:avLst/>
          </a:prstGeom>
          <a:solidFill>
            <a:srgbClr val="FFF0F0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536192"/>
            <a:ext cx="91440" cy="5669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2763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5V connected directly to GND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1536192"/>
            <a:ext cx="4297680" cy="566928"/>
          </a:xfrm>
          <a:prstGeom prst="rect">
            <a:avLst/>
          </a:prstGeom>
          <a:solidFill>
            <a:srgbClr val="F0FF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536192"/>
            <a:ext cx="91440" cy="5669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62763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Always have a component between 5V and GND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194560"/>
            <a:ext cx="4160520" cy="566928"/>
          </a:xfrm>
          <a:prstGeom prst="rect">
            <a:avLst/>
          </a:prstGeom>
          <a:solidFill>
            <a:srgbClr val="FFF0F0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194560"/>
            <a:ext cx="91440" cy="5669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28600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 resistor with an LED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2194560"/>
            <a:ext cx="4297680" cy="566928"/>
          </a:xfrm>
          <a:prstGeom prst="rect">
            <a:avLst/>
          </a:prstGeom>
          <a:solidFill>
            <a:srgbClr val="F0FF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2194560"/>
            <a:ext cx="91440" cy="5669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22860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Always use a 220Ω resistor in series with every LED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852928"/>
            <a:ext cx="4160520" cy="566928"/>
          </a:xfrm>
          <a:prstGeom prst="rect">
            <a:avLst/>
          </a:prstGeom>
          <a:solidFill>
            <a:srgbClr val="FFF0F0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852928"/>
            <a:ext cx="91440" cy="5669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94436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Both LED legs in the same row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2852928"/>
            <a:ext cx="4297680" cy="566928"/>
          </a:xfrm>
          <a:prstGeom prst="rect">
            <a:avLst/>
          </a:prstGeom>
          <a:solidFill>
            <a:srgbClr val="F0FF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2852928"/>
            <a:ext cx="91440" cy="5669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294436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Each component leg must go in a DIFFERENT row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511296"/>
            <a:ext cx="4160520" cy="566928"/>
          </a:xfrm>
          <a:prstGeom prst="rect">
            <a:avLst/>
          </a:prstGeom>
          <a:solidFill>
            <a:srgbClr val="FFF0F0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511296"/>
            <a:ext cx="91440" cy="5669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60273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LED inserted backwards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0" y="3511296"/>
            <a:ext cx="4297680" cy="566928"/>
          </a:xfrm>
          <a:prstGeom prst="rect">
            <a:avLst/>
          </a:prstGeom>
          <a:solidFill>
            <a:srgbClr val="F0FF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0" y="3511296"/>
            <a:ext cx="91440" cy="5669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3602736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Long leg (+) toward positive. Short leg (–) toward GND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4169664"/>
            <a:ext cx="4160520" cy="566928"/>
          </a:xfrm>
          <a:prstGeom prst="rect">
            <a:avLst/>
          </a:prstGeom>
          <a:solidFill>
            <a:srgbClr val="FFF0F0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4169664"/>
            <a:ext cx="91440" cy="5669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261104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Changing wires while powered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0" y="4169664"/>
            <a:ext cx="4297680" cy="566928"/>
          </a:xfrm>
          <a:prstGeom prst="rect">
            <a:avLst/>
          </a:prstGeom>
          <a:solidFill>
            <a:srgbClr val="F0FF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0" y="4169664"/>
            <a:ext cx="91440" cy="5669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426110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ALWAYS disconnect power before modifying the circuit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Golden Rule: BUILD FIRST. CHECK. THEN POWER ON.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7293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05840" y="1371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SAFE CIRCUIT — LED ON BREADBOARD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160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261872"/>
            <a:ext cx="420624" cy="4206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2618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18872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Arduino UNO + Breadboard on Tinkercad canvas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160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64608" y="1261872"/>
            <a:ext cx="420624" cy="42062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2618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94960" y="118872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wire: Arduino 5V → Breadboard + (red) rail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011680"/>
            <a:ext cx="4160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84048" y="2176272"/>
            <a:ext cx="420624" cy="420624"/>
          </a:xfrm>
          <a:prstGeom prst="ellipse">
            <a:avLst/>
          </a:prstGeom>
          <a:solidFill>
            <a:srgbClr val="333399"/>
          </a:solidFill>
          <a:ln w="12700">
            <a:solidFill>
              <a:srgbClr val="3333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1762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210312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wire: Arduino GND → Breadboard – (blue) rail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011680"/>
            <a:ext cx="4160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64608" y="2176272"/>
            <a:ext cx="420624" cy="42062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4608" y="21762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94960" y="210312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Resistor (220Ω): legs in Row 10 and Row 14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2926080"/>
            <a:ext cx="4160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84048" y="3090672"/>
            <a:ext cx="420624" cy="420624"/>
          </a:xfrm>
          <a:prstGeom prst="ellipse">
            <a:avLst/>
          </a:prstGeom>
          <a:solidFill>
            <a:srgbClr val="0A5C2E"/>
          </a:solidFill>
          <a:ln w="12700">
            <a:solidFill>
              <a:srgbClr val="0A5C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0906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0" y="301752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LED: long leg in Row 14, short leg in Row 16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926080"/>
            <a:ext cx="4160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64608" y="3090672"/>
            <a:ext cx="420624" cy="420624"/>
          </a:xfrm>
          <a:prstGeom prst="ellipse">
            <a:avLst/>
          </a:prstGeom>
          <a:solidFill>
            <a:srgbClr val="333399"/>
          </a:solidFill>
          <a:ln w="12700">
            <a:solidFill>
              <a:srgbClr val="3333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64608" y="30906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94960" y="301752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from – rail to Row 16 (LED cathode to GND)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3840480"/>
            <a:ext cx="4160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84048" y="4005072"/>
            <a:ext cx="420624" cy="4206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40050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14400" y="393192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from Arduino Pin 13 to Row 10 (to resistor)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54880" y="3840480"/>
            <a:ext cx="4160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64608" y="4005072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64608" y="40050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394960" y="393192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everything — then START SIMULATION!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05840" y="1371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PRE-POWER SAFETY CHECKLIST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through this checklist EVERY TIME before connecting power: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536192"/>
            <a:ext cx="4160520" cy="566928"/>
          </a:xfrm>
          <a:prstGeom prst="rect">
            <a:avLst/>
          </a:prstGeom>
          <a:solidFill>
            <a:srgbClr val="F8FB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536192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Power is DISCONNECTED while building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194560"/>
            <a:ext cx="4160520" cy="566928"/>
          </a:xfrm>
          <a:prstGeom prst="rect">
            <a:avLst/>
          </a:prstGeom>
          <a:solidFill>
            <a:srgbClr val="F8FB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19456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Every LED has a 220Ω resistor in series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852928"/>
            <a:ext cx="4160520" cy="566928"/>
          </a:xfrm>
          <a:prstGeom prst="rect">
            <a:avLst/>
          </a:prstGeom>
          <a:solidFill>
            <a:srgbClr val="F8FB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852928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LED long leg faces positive (+), short leg faces GND (–)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511296"/>
            <a:ext cx="4160520" cy="566928"/>
          </a:xfrm>
          <a:prstGeom prst="rect">
            <a:avLst/>
          </a:prstGeom>
          <a:solidFill>
            <a:srgbClr val="F8FB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511296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Each component leg is in a DIFFERENT breadboard row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4169664"/>
            <a:ext cx="4160520" cy="566928"/>
          </a:xfrm>
          <a:prstGeom prst="rect">
            <a:avLst/>
          </a:prstGeom>
          <a:solidFill>
            <a:srgbClr val="F8FB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4169664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Red wire connects Arduino 5V to + power rail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1536192"/>
            <a:ext cx="4160520" cy="566928"/>
          </a:xfrm>
          <a:prstGeom prst="rect">
            <a:avLst/>
          </a:prstGeom>
          <a:solidFill>
            <a:srgbClr val="F8FB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536192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Black wire connects Arduino GND to – power rail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2194560"/>
            <a:ext cx="4160520" cy="566928"/>
          </a:xfrm>
          <a:prstGeom prst="rect">
            <a:avLst/>
          </a:prstGeom>
          <a:solidFill>
            <a:srgbClr val="F8FB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19456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No bare wire ends are touching each other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2852928"/>
            <a:ext cx="4160520" cy="566928"/>
          </a:xfrm>
          <a:prstGeom prst="rect">
            <a:avLst/>
          </a:prstGeom>
          <a:solidFill>
            <a:srgbClr val="F8FB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852928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Circuit has been checked from beginning to end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3511296"/>
            <a:ext cx="4160520" cy="566928"/>
          </a:xfrm>
          <a:prstGeom prst="rect">
            <a:avLst/>
          </a:prstGeom>
          <a:solidFill>
            <a:srgbClr val="F0FFF4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3511296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NOW it is safe to connect power and simulate!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91440" cy="9144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188720"/>
            <a:ext cx="91440" cy="9144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103120"/>
            <a:ext cx="91440" cy="9144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017520"/>
            <a:ext cx="91440" cy="9144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3931920"/>
            <a:ext cx="91440" cy="9144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08760" y="274320"/>
            <a:ext cx="91440" cy="9144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08760" y="1188720"/>
            <a:ext cx="91440" cy="9144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08760" y="2103120"/>
            <a:ext cx="91440" cy="9144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08760" y="3017520"/>
            <a:ext cx="91440" cy="9144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08760" y="3931920"/>
            <a:ext cx="91440" cy="9144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0" y="274320"/>
            <a:ext cx="91440" cy="9144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0" y="1188720"/>
            <a:ext cx="91440" cy="9144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0" y="2103120"/>
            <a:ext cx="91440" cy="9144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0" y="3017520"/>
            <a:ext cx="91440" cy="9144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60320" y="3931920"/>
            <a:ext cx="91440" cy="9144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11880" y="274320"/>
            <a:ext cx="91440" cy="9144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11880" y="1188720"/>
            <a:ext cx="91440" cy="9144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11880" y="2103120"/>
            <a:ext cx="91440" cy="9144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11880" y="3017520"/>
            <a:ext cx="91440" cy="9144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11880" y="3931920"/>
            <a:ext cx="91440" cy="9144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274320"/>
            <a:ext cx="91440" cy="9144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1188720"/>
            <a:ext cx="91440" cy="9144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2103120"/>
            <a:ext cx="91440" cy="9144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3017520"/>
            <a:ext cx="91440" cy="9144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3931920"/>
            <a:ext cx="91440" cy="9144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715000" y="274320"/>
            <a:ext cx="91440" cy="9144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715000" y="1188720"/>
            <a:ext cx="91440" cy="9144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715000" y="2103120"/>
            <a:ext cx="91440" cy="9144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15000" y="3017520"/>
            <a:ext cx="91440" cy="9144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15000" y="3931920"/>
            <a:ext cx="91440" cy="9144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66560" y="274320"/>
            <a:ext cx="91440" cy="9144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66560" y="1188720"/>
            <a:ext cx="91440" cy="9144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66560" y="2103120"/>
            <a:ext cx="91440" cy="9144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0" y="3017520"/>
            <a:ext cx="91440" cy="9144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66560" y="3931920"/>
            <a:ext cx="91440" cy="9144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818120" y="274320"/>
            <a:ext cx="91440" cy="9144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818120" y="1188720"/>
            <a:ext cx="91440" cy="9144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818120" y="2103120"/>
            <a:ext cx="91440" cy="9144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818120" y="3017520"/>
            <a:ext cx="91440" cy="9144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818120" y="3931920"/>
            <a:ext cx="91440" cy="9144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97280" y="1097280"/>
            <a:ext cx="6949440" cy="2926080"/>
          </a:xfrm>
          <a:prstGeom prst="rect">
            <a:avLst/>
          </a:prstGeom>
          <a:solidFill>
            <a:srgbClr val="0A1E33"/>
          </a:solidFill>
          <a:ln w="254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1188720" y="123444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 Complete!</a:t>
            </a:r>
            <a:endParaRPr lang="en-US" sz="3400" dirty="0"/>
          </a:p>
        </p:txBody>
      </p:sp>
      <p:sp>
        <p:nvSpPr>
          <p:cNvPr id="44" name="Shape 42"/>
          <p:cNvSpPr/>
          <p:nvPr/>
        </p:nvSpPr>
        <p:spPr>
          <a:xfrm>
            <a:off x="2286000" y="1965960"/>
            <a:ext cx="4572000" cy="0"/>
          </a:xfrm>
          <a:prstGeom prst="line">
            <a:avLst/>
          </a:prstGeom>
          <a:noFill/>
          <a:ln w="12700">
            <a:solidFill>
              <a:srgbClr val="00B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188720" y="2057400"/>
            <a:ext cx="6766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93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now know every Arduino UNO part</a:t>
            </a:r>
            <a:endParaRPr lang="en-US" sz="16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93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how to safely use a breadboard.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188720" y="306324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Remember: BUILD FIRST. CHECK. THEN POWER ON.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Lesson: Build your first LED blink circuit on a breadboard in Tinkercad! 🚀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2026-05-26T06:04:30Z</dcterms:created>
  <dcterms:modified xsi:type="dcterms:W3CDTF">2026-05-26T06:04:30Z</dcterms:modified>
</cp:coreProperties>
</file>